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Decision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Arial"/>
              </a:defRPr>
            </a:pPr>
            <a:r>
              <a:t>AI-Powered Insights for Smarter Community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Arial"/>
              </a:defRPr>
            </a:pPr>
            <a:r>
              <a:t>Google Solution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BRIEF ABOUT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Modern communities generate vast amounts of structured and unstructured data from</a:t>
            </a: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transportation systems, healthcare services, environmental monitoring, citizen feedback,</a:t>
            </a: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utility networks, and public services. However, this data remains siloed and underutilized.</a:t>
            </a: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The Decision Intelligence Platform bridges this gap by providing an AI-powered, unified</a:t>
            </a: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platform that ingests data from multiple sources, understands natural language queries,</a:t>
            </a: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generates actionable insights, predicts outcomes, and recommends optimal decisions.</a:t>
            </a: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Built on Google Cloud ecosystem with Gemini LLM at its core, the platform covers 8 critical</a:t>
            </a: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community domains and empowers stakeholders — from city officials to citizens — to make</a:t>
            </a:r>
          </a:p>
          <a:p>
            <a:pPr>
              <a:spcAft>
                <a:spcPts val="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data-driven decisions that improve quality of life and community well-being.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097280"/>
            <a:ext cx="39319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2801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B82F6"/>
                </a:solidFill>
                <a:latin typeface="Arial"/>
              </a:defRPr>
            </a:pPr>
            <a:r>
              <a:t>AI-Powered Conversational Analytics</a:t>
            </a:r>
          </a:p>
          <a:p>
            <a:pPr>
              <a:spcAft>
                <a:spcPts val="800"/>
              </a:spcAft>
              <a:defRPr sz="1400">
                <a:solidFill>
                  <a:srgbClr val="3B82F6"/>
                </a:solidFill>
                <a:latin typeface="Arial"/>
              </a:defRPr>
            </a:pPr>
            <a:r>
              <a:t>8 Integrated Community Domains</a:t>
            </a:r>
          </a:p>
          <a:p>
            <a:pPr>
              <a:spcAft>
                <a:spcPts val="800"/>
              </a:spcAft>
              <a:defRPr sz="1400">
                <a:solidFill>
                  <a:srgbClr val="3B82F6"/>
                </a:solidFill>
                <a:latin typeface="Arial"/>
              </a:defRPr>
            </a:pPr>
            <a:r>
              <a:t>Multi-Criteria Decision Engine</a:t>
            </a:r>
          </a:p>
          <a:p>
            <a:pPr>
              <a:spcAft>
                <a:spcPts val="800"/>
              </a:spcAft>
              <a:defRPr sz="1400">
                <a:solidFill>
                  <a:srgbClr val="3B82F6"/>
                </a:solidFill>
                <a:latin typeface="Arial"/>
              </a:defRPr>
            </a:pPr>
            <a:r>
              <a:t>Predictive Forecasting &amp; Trends</a:t>
            </a:r>
          </a:p>
          <a:p>
            <a:pPr>
              <a:spcAft>
                <a:spcPts val="800"/>
              </a:spcAft>
              <a:defRPr sz="1400">
                <a:solidFill>
                  <a:srgbClr val="3B82F6"/>
                </a:solidFill>
                <a:latin typeface="Arial"/>
              </a:defRPr>
            </a:pPr>
            <a:r>
              <a:t>Explainable &amp; Responsible AI</a:t>
            </a:r>
          </a:p>
          <a:p>
            <a:pPr>
              <a:spcAft>
                <a:spcPts val="800"/>
              </a:spcAft>
              <a:defRPr sz="1400">
                <a:solidFill>
                  <a:srgbClr val="3B82F6"/>
                </a:solidFill>
                <a:latin typeface="Arial"/>
              </a:defRPr>
            </a:pPr>
            <a:r>
              <a:t>Real-time Data Ingestion</a:t>
            </a:r>
          </a:p>
          <a:p>
            <a:pPr>
              <a:spcAft>
                <a:spcPts val="800"/>
              </a:spcAft>
              <a:defRPr sz="1400">
                <a:solidFill>
                  <a:srgbClr val="3B82F6"/>
                </a:solidFill>
                <a:latin typeface="Arial"/>
              </a:defRPr>
            </a:pPr>
            <a:r>
              <a:t>Google Cloud Native</a:t>
            </a:r>
          </a:p>
          <a:p>
            <a:pPr>
              <a:spcAft>
                <a:spcPts val="800"/>
              </a:spcAft>
              <a:defRPr sz="1400">
                <a:solidFill>
                  <a:srgbClr val="3B82F6"/>
                </a:solidFill>
                <a:latin typeface="Arial"/>
              </a:defRPr>
            </a:pPr>
            <a:r>
              <a:t>Offline-First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SOLUTION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What the Decision Intelligence Platform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rial"/>
              </a:defRPr>
            </a:pPr>
            <a:r>
              <a:t>▸ Understand &amp; Analyze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Ingests structured/unstructured data from 8 domains, uses Gemini LLM for natural language understanding and contextual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515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rial"/>
              </a:defRPr>
            </a:pPr>
            <a:r>
              <a:t>▸ Answer Questions in Natural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77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Conversational AI interface allows users to ask questions like 'Show me traffic trends downtown' and get instant answers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10515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rial"/>
              </a:defRPr>
            </a:pPr>
            <a:r>
              <a:t>▸ Identify Patterns &amp; Anomalies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Advanced analytics engine detects trends, outliers, and correlations across data sources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40"/>
            <a:ext cx="10515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rial"/>
              </a:defRPr>
            </a:pPr>
            <a:r>
              <a:t>▸ Generate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251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Decision intelligence engine uses multi-criteria analysis to evaluate options and recommend optimal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rial"/>
              </a:defRPr>
            </a:pPr>
            <a:r>
              <a:t>▸ Automate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93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Intelligent data ingestion pipeline auto-categorizes, processes, and indexes data by domain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10515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rial"/>
              </a:defRPr>
            </a:pPr>
            <a:r>
              <a:t>▸ Support Decision-Making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624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Every insight includes confidence scores, source citations, reasoning, and suggested follow-up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Arial"/>
              </a:defRPr>
            </a:pPr>
            <a:r>
              <a:t>▸ Urban Mobility &amp; Transportation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Optimize traffic flow, reduce congestion, improve public transit efficiency through AI-powered route analysis and demand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Arial"/>
              </a:defRPr>
            </a:pPr>
            <a:r>
              <a:t>▸ Public Safety &amp; Emergency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Reduce response times with predictive dispatch, identify high-risk areas, and optimize resource allocation for emergencies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Arial"/>
              </a:defRPr>
            </a:pPr>
            <a:r>
              <a:t>▸ Healthcare Access &amp; Community Wellness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Improve healthcare accessibility, predict patient demand, optimize clinic staffing, and identify community health trends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Arial"/>
              </a:defRPr>
            </a:pPr>
            <a:r>
              <a:t>▸ Environmental Sustainability &amp; Climate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Monitor air/water quality in real-time, optimize waste management routes, track carbon emissions, and support green initiatives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8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Arial"/>
              </a:defRPr>
            </a:pPr>
            <a:r>
              <a:t>▸ Energy Efficiency &amp; Smart Utilities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Reduce energy consumption through smart grid analytics, predict peak demand, and optimize renewable energy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66928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Arial"/>
              </a:defRPr>
            </a:pPr>
            <a:r>
              <a:t>▸ Citizen Engagement &amp; Public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Analyze feedback sentiment, improve service delivery, increase participation through multi-channel digital engagement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FEATURES OFFERED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✓ Conversational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Natural language interface powered by Gemini LLM for querying any domain with context-aware responses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70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✓ Multi-Domain Analytics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Real-time visualization of KPIs across 8 community domains with drill-down capabilities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✓ Predictive Forecasting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ML-powered projections for traffic, energy demand, health trends, and environmental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2316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96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✓ Decision Intelligence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Multi-criteria analysis that evaluates options, ranks alternatives, and recommends optimal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4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✓ Intelligent Data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Connect CSV, JSON, PDF, APIs, and webhooks with auto-categorization by domain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4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22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✓ RAG-Powered Knowledge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Retrieval-Augmented Generation using vector search for accurate, source-cited responses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7492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48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✓ Explainable AI 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406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Every recommendation includes confidence scores, reasoning, source citations, and trade-off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07492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148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✓ Real-time Activity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4406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Live feed of system events, data ingestion status, insight generation, and decision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PROCESS FLOW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6459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92024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Arial"/>
              </a:defRPr>
            </a:pPr>
            <a:r>
              <a:t>1.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86000"/>
            <a:ext cx="1499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CSV / JSON / PDF</a:t>
            </a:r>
            <a:br/>
            <a:r>
              <a:t>API / Webhook</a:t>
            </a:r>
            <a:br/>
            <a:r>
              <a:t>8 domain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828800"/>
            <a:ext cx="16459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92024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Arial"/>
              </a:defRPr>
            </a:pPr>
            <a:r>
              <a:t>2. DATA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286000"/>
            <a:ext cx="1499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Auto-categorization</a:t>
            </a:r>
            <a:br/>
            <a:r>
              <a:t>Vector embedding</a:t>
            </a:r>
            <a:br/>
            <a:r>
              <a:t>Indexing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16459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92024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923C"/>
                </a:solidFill>
                <a:latin typeface="Arial"/>
              </a:defRPr>
            </a:pPr>
            <a:r>
              <a:t>3. AI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286000"/>
            <a:ext cx="1499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Gemini LLM</a:t>
            </a:r>
            <a:br/>
            <a:r>
              <a:t>RAG Context</a:t>
            </a:r>
            <a:br/>
            <a:r>
              <a:t>Pattern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828800"/>
            <a:ext cx="16459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92024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Arial"/>
              </a:defRPr>
            </a:pPr>
            <a:r>
              <a:t>4. INSIGHT 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286000"/>
            <a:ext cx="1499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Trend Analysis</a:t>
            </a:r>
            <a:br/>
            <a:r>
              <a:t>Predictive Forecast</a:t>
            </a:r>
            <a:br/>
            <a:r>
              <a:t>Anomaly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828800"/>
            <a:ext cx="16459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92024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Arial"/>
              </a:defRPr>
            </a:pPr>
            <a:r>
              <a:t>5.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286000"/>
            <a:ext cx="1499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Multi-criteria Eval</a:t>
            </a:r>
            <a:br/>
            <a:r>
              <a:t>Option Ranking</a:t>
            </a:r>
            <a:br/>
            <a:r>
              <a:t>Pros/Cons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7000" y="1828800"/>
            <a:ext cx="16459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0152" y="192024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Arial"/>
              </a:defRPr>
            </a:pPr>
            <a:r>
              <a:t>6.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0152" y="2286000"/>
            <a:ext cx="1499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Recommendations</a:t>
            </a:r>
            <a:br/>
            <a:r>
              <a:t>Reports</a:t>
            </a:r>
            <a:br/>
            <a:r>
              <a:t>Dashboard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The platform follows an end-to-end pipeline: Raw data enters through ingestion connectors → auto-categorized and vectorized → analyzed by Gemini LLM with RAG context → patterns and forecasts extracted → options evaluated against multiple criteria → actionable recommendations delivered through dashboard, chat, and reports.</a:t>
            </a: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Feedback loop: User interactions and decisions are logged to improve future recommendations, creating a continuous learning cycle that gets smarter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USE-CASE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56032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City Administrators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Dashboard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Policy decisions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Resource allocation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Performance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188720"/>
            <a:ext cx="256032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234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Citizens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Query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28600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Report issues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View analytics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Submit 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2560320" cy="914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Emergency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Dispatch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8600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Response analytics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Risk assessment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Resource planning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56032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234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Urban Planners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Traffic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28600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Transit optimization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Infrastructure planning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Sustainability goals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114800"/>
            <a:ext cx="39319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DECISION INTELLIGENCE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548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AI Engine · Analytics · Decisions ·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760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↑ All actors interact through the unified platform 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515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430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Next.js 15 · Tailwind CSS · Recharts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Dashboard | AI Chat | Analytics | Decisions | Data Management | Responsive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39"/>
            <a:ext cx="10515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API GATEWAY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9455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FastAPI · REST · WebSocket · Async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5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Authentication | Rate Limiting | Request Validation | API Documentation (OpenAPI)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399"/>
            <a:ext cx="10515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AI SERVICES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4611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Google Gemini · RAG Engine · Vector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Natural Language Understanding | Context Retrieval | Pattern Detection | Forecasting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51959"/>
            <a:ext cx="10515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DATA &amp; STORAGE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9767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ChromaDB · BigQuery · File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Vector Embeddings | Time-series Data | Sample Generators | 8 Domain Schemas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03519"/>
            <a:ext cx="105156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492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INFRASTRUCTURE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34923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Docker · Cloud Run · Cloud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Container Orchestration | Auto-scaling | CI/CD Pipeline | Load Balancing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1005840"/>
            <a:ext cx="10424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806440"/>
            <a:ext cx="10424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WIREFRAMES / MOCK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560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5603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┌─────────────────┐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 [Metric Cards] 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├──────┬──────┬───┤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Dom  │ Dom  │Dom│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ain  │ ain  │  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├──────┴──────┴───┤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[Activity Feed]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└─────────────────┘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188720"/>
            <a:ext cx="2560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AI Chat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┌─────────────────┐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 [Metric Cards] 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├──────┬──────┬───┤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Dom  │ Dom  │Dom│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ain  │ ain  │  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├──────┴──────┴───┤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[Activity Feed]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└─────────────────┘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2560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Analytics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┌─────────────────┐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 [Metric Cards] 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├──────┬──────┬───┤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Dom  │ Dom  │Dom│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ain  │ ain  │  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├──────┴──────┴───┤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[Activity Feed]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└─────────────────┘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88720"/>
            <a:ext cx="2560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188720"/>
            <a:ext cx="25603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Decision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7373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┌─────────────────┐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 [Metric Cards] 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├──────┬──────┬───┤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Dom  │ Dom  │Dom│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ain  │ ain  │  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├──────┴──────┴───┤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│ [Activity Feed] │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  <a:latin typeface="Arial"/>
              </a:defRPr>
            </a:pPr>
            <a:r>
              <a:t>└─────────────────┘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The platform features a responsive, modern UI with: Dark theme optimized for data dashboards · Left sidebar navigation with 5 main sections · Search bar and notification system · Domain-specific filtering across all views · Interactive charts with drill-down · Mobile-responsive design for on-the-go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Arial"/>
              </a:defRPr>
            </a:pPr>
            <a:r>
              <a:t>✦ Google Gemini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Large Language Model for natural language understanding, context-aware responses, and domain-specific expertise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Arial"/>
              </a:defRPr>
            </a:pPr>
            <a:r>
              <a:t>✦ Google Vertex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ML model training, deployment, and MLOps pipeline for custom predictive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Arial"/>
              </a:defRPr>
            </a:pPr>
            <a:r>
              <a:t>✦ Google BigQuery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58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Serverless data warehouse for large-scale analytics and time-series 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6596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Arial"/>
              </a:defRPr>
            </a:pPr>
            <a:r>
              <a:t>✦ Google Cloud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58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Fully managed container platform with auto-scaling and pay-per-use pricing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Arial"/>
              </a:defRPr>
            </a:pPr>
            <a:r>
              <a:t>✦ Next.js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27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React framework with server-side rendering, app router, and optimal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83464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Arial"/>
              </a:defRPr>
            </a:pPr>
            <a:r>
              <a:t>✦ FastAPI (Python)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127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High-performance async API framework with automatic OpenAPI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0332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Arial"/>
              </a:defRPr>
            </a:pPr>
            <a:r>
              <a:t>✦ Tailwind 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9959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Utility-first CSS framework for rapid, responsive UI 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70332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Arial"/>
              </a:defRPr>
            </a:pPr>
            <a:r>
              <a:t>✦ Recharts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9959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Composable charting library built on React components for data visualization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57200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✦ ChromaDB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64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Open-source vector database for RAG pipeline and semantic similarity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57200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✦ Docker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864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Container runtime for consistent development and production environments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44068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✦ Cloud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7332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CI/CD pipeline for automated testing, building, and deployment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440680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✦ Redis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7332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In-memory data store for caching and task queue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SNAPSHOT OF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The Decision Intelligence Platform is fully functional and deployed. Key prototype highlights: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1. Dashboard — Real-time display of 8 domain metrics with AI-generated insights and activity feed.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Live KPIs: Data sources, Insights generated, Decisions supported, Community score.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2. AI Chat — Working conversational interface with domain-specific AI agents. Ask questions like: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'Analyze downtown traffic congestion' or 'Predict energy demand for next month'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3. Analytics — Interactive domain analytics with trend charts, performance metrics, and forecasts.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Each domain has 7+ tracked metrics with historical data (90+ days).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4. Decision Engine — Input your decision context and options; the AI evaluates and recommends.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Uses multi-criteria analysis with confidence scoring and pros/cons comparison.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5. Data Management — Connect new data sources through CSV, JSON, PDF, API, or webhook.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Auto-categorization by domain with status monitoring.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6. Backend API — 7 RESTful endpoints serving analytics, chat, decisions, and data management.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Full auto-generated docs at /docs endpoint.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All functionality works offline with sample data. Google Cloud integration enhances capabilities</a:t>
            </a:r>
          </a:p>
          <a:p>
            <a:pPr>
              <a:spcAft>
                <a:spcPts val="2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when credentials are configured — enabling real Gemini LLM responses and BigQuery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GitHub: github.com/kushaljagad73/decision-intelligence-platform  |  Built with Google Cloud ☁️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