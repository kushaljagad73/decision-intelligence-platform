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i="1" lang="en-GB" sz="1100"/>
              <a:t>All solutions must leverage Google Cloud technologies. NVIDIA technologies should be included by teams that have selected the NVIDIA problem statement.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Frame 1618872812.png"/>
          <p:cNvPicPr preferRelativeResize="0"/>
          <p:nvPr/>
        </p:nvPicPr>
        <p:blipFill rotWithShape="1">
          <a:blip r:embed="rId3">
            <a:alphaModFix/>
          </a:blip>
          <a:srcRect b="0" l="1840" r="1840" t="0"/>
          <a:stretch/>
        </p:blipFill>
        <p:spPr>
          <a:xfrm>
            <a:off x="0" y="0"/>
            <a:ext cx="9144003" cy="2827599"/>
          </a:xfrm>
          <a:prstGeom prst="rect">
            <a:avLst/>
          </a:prstGeom>
          <a:noFill/>
          <a:ln>
            <a:noFill/>
          </a:ln>
        </p:spPr>
      </p:pic>
      <p:sp>
        <p:nvSpPr>
          <p:cNvPr id="55" name="Google Shape;55;p13"/>
          <p:cNvSpPr txBox="1"/>
          <p:nvPr/>
        </p:nvSpPr>
        <p:spPr>
          <a:xfrm>
            <a:off x="463125" y="3034275"/>
            <a:ext cx="8270400" cy="178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Participant Details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Participant Name: </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Problem Statement: </a:t>
            </a:r>
            <a:endParaRPr b="0"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61" name="Google Shape;61;p14"/>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Brief about the idea</a:t>
            </a:r>
            <a:endParaRPr b="1" i="0" sz="1800" u="none" cap="none" strike="noStrike">
              <a:solidFill>
                <a:srgbClr val="000000"/>
              </a:solidFill>
              <a:latin typeface="Google Sans"/>
              <a:ea typeface="Google Sans"/>
              <a:cs typeface="Google Sans"/>
              <a:sym typeface="Google Sans"/>
            </a:endParaRPr>
          </a:p>
        </p:txBody>
      </p:sp>
      <p:sp>
        <p:nvSpPr>
          <p:cNvPr id="62" name="Google Shape;62;p14"/>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68" name="Google Shape;68;p15"/>
          <p:cNvSpPr txBox="1"/>
          <p:nvPr/>
        </p:nvSpPr>
        <p:spPr>
          <a:xfrm>
            <a:off x="463125" y="3655337"/>
            <a:ext cx="8558411" cy="81869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
        <p:nvSpPr>
          <p:cNvPr id="69" name="Google Shape;69;p15"/>
          <p:cNvSpPr txBox="1"/>
          <p:nvPr/>
        </p:nvSpPr>
        <p:spPr>
          <a:xfrm>
            <a:off x="1698825" y="1296325"/>
            <a:ext cx="7459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70" name="Google Shape;70;p15"/>
          <p:cNvSpPr txBox="1"/>
          <p:nvPr/>
        </p:nvSpPr>
        <p:spPr>
          <a:xfrm>
            <a:off x="463125" y="787050"/>
            <a:ext cx="8270400" cy="199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Your solution should be able to explain the following:</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How did you approach the common problem statement and translate it into a working solution using Google Cloud technologies (e.g., BigQuery, ADK, Vertex AI, Gemini, etc.) while ensuring the hackathon's core requirements are met? If you selected the NVIDIA problem statement, also explain how NVIDIA technologies were integrated into your solution.</a:t>
            </a:r>
            <a:br>
              <a:rPr b="0" i="0" lang="en-GB" sz="1400" u="none" cap="none" strike="noStrike">
                <a:solidFill>
                  <a:srgbClr val="000000"/>
                </a:solidFill>
                <a:latin typeface="Google Sans"/>
                <a:ea typeface="Google Sans"/>
                <a:cs typeface="Google Sans"/>
                <a:sym typeface="Google Sans"/>
              </a:rPr>
            </a:br>
            <a:endParaRPr b="0" i="0" sz="14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What real-world problem does your solution address, and what practical impact does it create for users, organizations, or communities?</a:t>
            </a:r>
            <a:r>
              <a:rPr b="0" i="0" lang="en-GB" sz="1400" u="none" cap="none" strike="noStrike">
                <a:solidFill>
                  <a:srgbClr val="000000"/>
                </a:solidFill>
                <a:latin typeface="Google Sans"/>
                <a:ea typeface="Google Sans"/>
                <a:cs typeface="Google Sans"/>
                <a:sym typeface="Google Sans"/>
              </a:rPr>
              <a:t>?</a:t>
            </a:r>
            <a:br>
              <a:rPr b="0" i="0" lang="en-GB" sz="1400" u="none" cap="none" strike="noStrike">
                <a:solidFill>
                  <a:srgbClr val="000000"/>
                </a:solidFill>
                <a:latin typeface="Google Sans"/>
                <a:ea typeface="Google Sans"/>
                <a:cs typeface="Google Sans"/>
                <a:sym typeface="Google Sans"/>
              </a:rPr>
            </a:br>
            <a:endParaRPr b="0" i="0" sz="14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400" u="none" cap="none" strike="noStrike">
                <a:solidFill>
                  <a:srgbClr val="000000"/>
                </a:solidFill>
                <a:latin typeface="Arial"/>
                <a:ea typeface="Arial"/>
                <a:cs typeface="Arial"/>
                <a:sym typeface="Arial"/>
              </a:rPr>
              <a:t>What is the core architecture or workflow behind your solution, and how does it transform data into actionable insights or intelligent decisions?</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76" name="Google Shape;76;p16"/>
          <p:cNvSpPr txBox="1"/>
          <p:nvPr/>
        </p:nvSpPr>
        <p:spPr>
          <a:xfrm>
            <a:off x="463125" y="787050"/>
            <a:ext cx="8270400" cy="137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Opportunities</a:t>
            </a:r>
            <a:br>
              <a:rPr b="1" i="0" lang="en-GB" sz="1800" u="none" cap="none" strike="noStrike">
                <a:solidFill>
                  <a:srgbClr val="000000"/>
                </a:solidFill>
                <a:latin typeface="Google Sans"/>
                <a:ea typeface="Google Sans"/>
                <a:cs typeface="Google Sans"/>
                <a:sym typeface="Google Sans"/>
              </a:rPr>
            </a:br>
            <a:endParaRPr b="1" i="0" sz="1800" u="none" cap="none" strike="noStrike">
              <a:solidFill>
                <a:srgbClr val="000000"/>
              </a:solidFill>
              <a:latin typeface="Google Sans"/>
              <a:ea typeface="Google Sans"/>
              <a:cs typeface="Google Sans"/>
              <a:sym typeface="Google Sans"/>
            </a:endParaRPr>
          </a:p>
          <a:p>
            <a:pPr indent="-317500" lvl="0" marL="457200" marR="0" rtl="0" algn="l">
              <a:lnSpc>
                <a:spcPct val="100000"/>
              </a:lnSpc>
              <a:spcBef>
                <a:spcPts val="0"/>
              </a:spcBef>
              <a:spcAft>
                <a:spcPts val="0"/>
              </a:spcAft>
              <a:buClr>
                <a:srgbClr val="000000"/>
              </a:buClr>
              <a:buSzPts val="1400"/>
              <a:buFont typeface="Google Sans"/>
              <a:buChar char="●"/>
            </a:pPr>
            <a:r>
              <a:rPr b="0" i="0" lang="en-GB" sz="1600" u="none" cap="none" strike="noStrike">
                <a:solidFill>
                  <a:srgbClr val="000000"/>
                </a:solidFill>
                <a:latin typeface="Google Sans"/>
                <a:ea typeface="Google Sans"/>
                <a:cs typeface="Google Sans"/>
                <a:sym typeface="Google Sans"/>
              </a:rPr>
              <a:t>How different is it from any of the other existing ideas?</a:t>
            </a:r>
            <a:endParaRPr b="0" i="0" sz="1600" u="none" cap="none" strike="noStrike">
              <a:solidFill>
                <a:srgbClr val="000000"/>
              </a:solidFill>
              <a:latin typeface="Google Sans"/>
              <a:ea typeface="Google Sans"/>
              <a:cs typeface="Google Sans"/>
              <a:sym typeface="Google Sans"/>
            </a:endParaRPr>
          </a:p>
          <a:p>
            <a:pPr indent="-330200" lvl="0" marL="457200" marR="0" rtl="0" algn="l">
              <a:lnSpc>
                <a:spcPct val="100000"/>
              </a:lnSpc>
              <a:spcBef>
                <a:spcPts val="0"/>
              </a:spcBef>
              <a:spcAft>
                <a:spcPts val="0"/>
              </a:spcAft>
              <a:buClr>
                <a:srgbClr val="000000"/>
              </a:buClr>
              <a:buSzPts val="1600"/>
              <a:buFont typeface="Google Sans"/>
              <a:buChar char="●"/>
            </a:pPr>
            <a:r>
              <a:rPr b="0" i="0" lang="en-GB" sz="1600" u="none" cap="none" strike="noStrike">
                <a:solidFill>
                  <a:srgbClr val="000000"/>
                </a:solidFill>
                <a:latin typeface="Google Sans"/>
                <a:ea typeface="Google Sans"/>
                <a:cs typeface="Google Sans"/>
                <a:sym typeface="Google Sans"/>
              </a:rPr>
              <a:t>USP of the proposed solution</a:t>
            </a:r>
            <a:endParaRPr b="0" i="0" sz="1600" u="none" cap="none" strike="noStrike">
              <a:solidFill>
                <a:srgbClr val="000000"/>
              </a:solidFill>
              <a:latin typeface="Google Sans"/>
              <a:ea typeface="Google Sans"/>
              <a:cs typeface="Google Sans"/>
              <a:sym typeface="Google Sans"/>
            </a:endParaRPr>
          </a:p>
        </p:txBody>
      </p:sp>
      <p:sp>
        <p:nvSpPr>
          <p:cNvPr id="77" name="Google Shape;77;p16"/>
          <p:cNvSpPr txBox="1"/>
          <p:nvPr/>
        </p:nvSpPr>
        <p:spPr>
          <a:xfrm>
            <a:off x="463125" y="2392375"/>
            <a:ext cx="8270400" cy="224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7"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83" name="Google Shape;83;p17"/>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List of features offered by the solution</a:t>
            </a:r>
            <a:endParaRPr b="1" i="0" sz="1800" u="none" cap="none" strike="noStrike">
              <a:solidFill>
                <a:srgbClr val="000000"/>
              </a:solidFill>
              <a:latin typeface="Google Sans"/>
              <a:ea typeface="Google Sans"/>
              <a:cs typeface="Google Sans"/>
              <a:sym typeface="Google Sans"/>
            </a:endParaRPr>
          </a:p>
        </p:txBody>
      </p:sp>
      <p:sp>
        <p:nvSpPr>
          <p:cNvPr id="84" name="Google Shape;84;p17"/>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90" name="Google Shape;90;p18"/>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Process flow diagram or Use-case diagram</a:t>
            </a:r>
            <a:endParaRPr b="1" i="0" sz="1800" u="none" cap="none" strike="noStrike">
              <a:solidFill>
                <a:srgbClr val="000000"/>
              </a:solidFill>
              <a:latin typeface="Google Sans"/>
              <a:ea typeface="Google Sans"/>
              <a:cs typeface="Google Sans"/>
              <a:sym typeface="Google Sans"/>
            </a:endParaRPr>
          </a:p>
        </p:txBody>
      </p:sp>
      <p:sp>
        <p:nvSpPr>
          <p:cNvPr id="91" name="Google Shape;91;p18"/>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9"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97" name="Google Shape;97;p19"/>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Wireframes/Mock diagrams of the proposed solution </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
        <p:nvSpPr>
          <p:cNvPr id="98" name="Google Shape;98;p19"/>
          <p:cNvSpPr txBox="1"/>
          <p:nvPr/>
        </p:nvSpPr>
        <p:spPr>
          <a:xfrm>
            <a:off x="463125" y="118497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0"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04" name="Google Shape;104;p20"/>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Architecture diagram of the proposed solution:</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 </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p:txBody>
      </p:sp>
      <p:sp>
        <p:nvSpPr>
          <p:cNvPr id="105" name="Google Shape;105;p20"/>
          <p:cNvSpPr txBox="1"/>
          <p:nvPr/>
        </p:nvSpPr>
        <p:spPr>
          <a:xfrm>
            <a:off x="463125" y="118497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11" name="Google Shape;111;p21"/>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Technologies / Google / Nvidia Services used in the solution</a:t>
            </a:r>
            <a:br>
              <a:rPr b="0" i="0" lang="en-GB" sz="1000" u="none" cap="none" strike="noStrike">
                <a:solidFill>
                  <a:srgbClr val="000000"/>
                </a:solidFill>
                <a:latin typeface="Google Sans"/>
                <a:ea typeface="Google Sans"/>
                <a:cs typeface="Google Sans"/>
                <a:sym typeface="Google Sans"/>
              </a:rPr>
            </a:br>
            <a:r>
              <a:rPr b="0" i="0" lang="en-GB" sz="1000" u="none" cap="none" strike="noStrike">
                <a:solidFill>
                  <a:srgbClr val="000000"/>
                </a:solidFill>
                <a:latin typeface="Google Sans"/>
                <a:ea typeface="Google Sans"/>
                <a:cs typeface="Google Sans"/>
                <a:sym typeface="Google Sans"/>
              </a:rPr>
              <a:t>(Why did you choose your specific AI stack and system design, and how does it support scalability and real-world deployment?)</a:t>
            </a:r>
            <a:endParaRPr b="1" i="0" sz="1800" u="none" cap="none" strike="noStrike">
              <a:solidFill>
                <a:srgbClr val="000000"/>
              </a:solidFill>
              <a:latin typeface="Google Sans"/>
              <a:ea typeface="Google Sans"/>
              <a:cs typeface="Google Sans"/>
              <a:sym typeface="Google Sans"/>
            </a:endParaRPr>
          </a:p>
        </p:txBody>
      </p:sp>
      <p:sp>
        <p:nvSpPr>
          <p:cNvPr id="112" name="Google Shape;112;p21"/>
          <p:cNvSpPr txBox="1"/>
          <p:nvPr/>
        </p:nvSpPr>
        <p:spPr>
          <a:xfrm>
            <a:off x="463125" y="15746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title="Bg APAC.png"/>
          <p:cNvPicPr preferRelativeResize="0"/>
          <p:nvPr/>
        </p:nvPicPr>
        <p:blipFill rotWithShape="1">
          <a:blip r:embed="rId3">
            <a:alphaModFix/>
          </a:blip>
          <a:srcRect b="88359" l="0" r="0" t="0"/>
          <a:stretch/>
        </p:blipFill>
        <p:spPr>
          <a:xfrm>
            <a:off x="0" y="0"/>
            <a:ext cx="9144000" cy="598749"/>
          </a:xfrm>
          <a:prstGeom prst="rect">
            <a:avLst/>
          </a:prstGeom>
          <a:noFill/>
          <a:ln>
            <a:noFill/>
          </a:ln>
        </p:spPr>
      </p:pic>
      <p:sp>
        <p:nvSpPr>
          <p:cNvPr id="118" name="Google Shape;118;p22"/>
          <p:cNvSpPr txBox="1"/>
          <p:nvPr/>
        </p:nvSpPr>
        <p:spPr>
          <a:xfrm>
            <a:off x="679525" y="1014075"/>
            <a:ext cx="7840800" cy="318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19" name="Google Shape;119;p22"/>
          <p:cNvSpPr txBox="1"/>
          <p:nvPr/>
        </p:nvSpPr>
        <p:spPr>
          <a:xfrm>
            <a:off x="463125" y="787050"/>
            <a:ext cx="8270400" cy="48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Snapshots of the prototype</a:t>
            </a:r>
            <a:endParaRPr b="1" i="0" sz="1800" u="none" cap="none" strike="noStrike">
              <a:solidFill>
                <a:srgbClr val="000000"/>
              </a:solidFill>
              <a:latin typeface="Google Sans"/>
              <a:ea typeface="Google Sans"/>
              <a:cs typeface="Google Sans"/>
              <a:sym typeface="Google Sans"/>
            </a:endParaRPr>
          </a:p>
        </p:txBody>
      </p:sp>
      <p:sp>
        <p:nvSpPr>
          <p:cNvPr id="120" name="Google Shape;120;p22"/>
          <p:cNvSpPr txBox="1"/>
          <p:nvPr/>
        </p:nvSpPr>
        <p:spPr>
          <a:xfrm>
            <a:off x="463125" y="1124100"/>
            <a:ext cx="8270400" cy="35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oogle Sans"/>
                <a:ea typeface="Google Sans"/>
                <a:cs typeface="Google Sans"/>
                <a:sym typeface="Google Sans"/>
              </a:rPr>
              <a:t>Type here…</a:t>
            </a:r>
            <a:endParaRPr b="0" i="0" sz="1400" u="none" cap="none" strike="noStrike">
              <a:solidFill>
                <a:srgbClr val="000000"/>
              </a:solidFill>
              <a:latin typeface="Google Sans"/>
              <a:ea typeface="Google Sans"/>
              <a:cs typeface="Google Sans"/>
              <a:sym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3" title="Submission deck tq.png"/>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